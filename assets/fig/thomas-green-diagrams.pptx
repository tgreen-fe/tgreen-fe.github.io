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089772"/>
            <a:ext cx="11057839" cy="3317351"/>
          </a:xfrm>
          <a:prstGeom prst="rect">
            <a:avLst/>
          </a:prstGeom>
          <a:solidFill>
            <a:srgbClr val="ED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66928" y="2089772"/>
            <a:ext cx="11057839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429396" y="1773703"/>
            <a:ext cx="4023360" cy="291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10" b="0">
                <a:solidFill>
                  <a:srgbClr val="6B6764"/>
                </a:solidFill>
                <a:latin typeface="Calibri"/>
              </a:rPr>
              <a:t>Ground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35522" y="2089772"/>
            <a:ext cx="1105783" cy="1965838"/>
          </a:xfrm>
          <a:prstGeom prst="rect">
            <a:avLst/>
          </a:prstGeom>
          <a:solidFill>
            <a:srgbClr val="EDEDED"/>
          </a:solidFill>
          <a:ln w="12700">
            <a:solidFill>
              <a:srgbClr val="A5A5A5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523266" y="4137758"/>
            <a:ext cx="4023360" cy="3034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60" b="0">
                <a:solidFill>
                  <a:srgbClr val="3B3838"/>
                </a:solidFill>
                <a:latin typeface="Calibri"/>
              </a:rPr>
              <a:t>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523266" y="4346628"/>
            <a:ext cx="4023360" cy="3034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60" b="0">
                <a:solidFill>
                  <a:srgbClr val="3B3838"/>
                </a:solidFill>
                <a:latin typeface="Calibri"/>
              </a:rPr>
              <a:t>chamber</a:t>
            </a:r>
          </a:p>
        </p:txBody>
      </p:sp>
      <p:sp>
        <p:nvSpPr>
          <p:cNvPr id="8" name="Freeform 7"/>
          <p:cNvSpPr/>
          <p:nvPr/>
        </p:nvSpPr>
        <p:spPr>
          <a:xfrm>
            <a:off x="2041306" y="2826962"/>
            <a:ext cx="6634704" cy="1744681"/>
          </a:xfrm>
          <a:custGeom>
            <a:avLst/>
            <a:gdLst/>
            <a:ahLst/>
            <a:cxnLst/>
            <a:rect l="l" t="t" r="r" b="b"/>
            <a:pathLst>
              <a:path w="6634704" h="1744681">
                <a:moveTo>
                  <a:pt x="0" y="0"/>
                </a:moveTo>
                <a:lnTo>
                  <a:pt x="5406055" y="0"/>
                </a:lnTo>
                <a:lnTo>
                  <a:pt x="5406055" y="0"/>
                </a:lnTo>
                <a:lnTo>
                  <a:pt x="5486412" y="2630"/>
                </a:lnTo>
                <a:lnTo>
                  <a:pt x="5566426" y="10511"/>
                </a:lnTo>
                <a:lnTo>
                  <a:pt x="5645752" y="23608"/>
                </a:lnTo>
                <a:lnTo>
                  <a:pt x="5724052" y="41865"/>
                </a:lnTo>
                <a:lnTo>
                  <a:pt x="5800991" y="65204"/>
                </a:lnTo>
                <a:lnTo>
                  <a:pt x="5876238" y="93525"/>
                </a:lnTo>
                <a:lnTo>
                  <a:pt x="5949472" y="126707"/>
                </a:lnTo>
                <a:lnTo>
                  <a:pt x="6020379" y="164607"/>
                </a:lnTo>
                <a:lnTo>
                  <a:pt x="6088655" y="207064"/>
                </a:lnTo>
                <a:lnTo>
                  <a:pt x="6154009" y="253896"/>
                </a:lnTo>
                <a:lnTo>
                  <a:pt x="6216159" y="304901"/>
                </a:lnTo>
                <a:lnTo>
                  <a:pt x="6274841" y="359862"/>
                </a:lnTo>
                <a:lnTo>
                  <a:pt x="6329802" y="418544"/>
                </a:lnTo>
                <a:lnTo>
                  <a:pt x="6380807" y="480694"/>
                </a:lnTo>
                <a:lnTo>
                  <a:pt x="6427639" y="546048"/>
                </a:lnTo>
                <a:lnTo>
                  <a:pt x="6470096" y="614324"/>
                </a:lnTo>
                <a:lnTo>
                  <a:pt x="6507996" y="685231"/>
                </a:lnTo>
                <a:lnTo>
                  <a:pt x="6541178" y="758465"/>
                </a:lnTo>
                <a:lnTo>
                  <a:pt x="6569499" y="833712"/>
                </a:lnTo>
                <a:lnTo>
                  <a:pt x="6592838" y="910651"/>
                </a:lnTo>
                <a:lnTo>
                  <a:pt x="6611095" y="988951"/>
                </a:lnTo>
                <a:lnTo>
                  <a:pt x="6624192" y="1068278"/>
                </a:lnTo>
                <a:lnTo>
                  <a:pt x="6632073" y="1148291"/>
                </a:lnTo>
                <a:lnTo>
                  <a:pt x="6634704" y="1228648"/>
                </a:lnTo>
                <a:lnTo>
                  <a:pt x="6634704" y="1744681"/>
                </a:lnTo>
                <a:lnTo>
                  <a:pt x="5897514" y="1744681"/>
                </a:lnTo>
                <a:lnTo>
                  <a:pt x="5897514" y="1228648"/>
                </a:lnTo>
                <a:lnTo>
                  <a:pt x="5896462" y="1196505"/>
                </a:lnTo>
                <a:lnTo>
                  <a:pt x="5893310" y="1164500"/>
                </a:lnTo>
                <a:lnTo>
                  <a:pt x="5888071" y="1132769"/>
                </a:lnTo>
                <a:lnTo>
                  <a:pt x="5880768" y="1101449"/>
                </a:lnTo>
                <a:lnTo>
                  <a:pt x="5871433" y="1070674"/>
                </a:lnTo>
                <a:lnTo>
                  <a:pt x="5860104" y="1040575"/>
                </a:lnTo>
                <a:lnTo>
                  <a:pt x="5846831" y="1011281"/>
                </a:lnTo>
                <a:lnTo>
                  <a:pt x="5831671" y="982919"/>
                </a:lnTo>
                <a:lnTo>
                  <a:pt x="5814688" y="955608"/>
                </a:lnTo>
                <a:lnTo>
                  <a:pt x="5795956" y="929467"/>
                </a:lnTo>
                <a:lnTo>
                  <a:pt x="5775554" y="904607"/>
                </a:lnTo>
                <a:lnTo>
                  <a:pt x="5753569" y="881134"/>
                </a:lnTo>
                <a:lnTo>
                  <a:pt x="5730097" y="859150"/>
                </a:lnTo>
                <a:lnTo>
                  <a:pt x="5705236" y="838747"/>
                </a:lnTo>
                <a:lnTo>
                  <a:pt x="5679095" y="820015"/>
                </a:lnTo>
                <a:lnTo>
                  <a:pt x="5651785" y="803032"/>
                </a:lnTo>
                <a:lnTo>
                  <a:pt x="5623422" y="787872"/>
                </a:lnTo>
                <a:lnTo>
                  <a:pt x="5594128" y="774599"/>
                </a:lnTo>
                <a:lnTo>
                  <a:pt x="5564029" y="763271"/>
                </a:lnTo>
                <a:lnTo>
                  <a:pt x="5533254" y="753935"/>
                </a:lnTo>
                <a:lnTo>
                  <a:pt x="5501934" y="746632"/>
                </a:lnTo>
                <a:lnTo>
                  <a:pt x="5470203" y="741393"/>
                </a:lnTo>
                <a:lnTo>
                  <a:pt x="5438198" y="738241"/>
                </a:lnTo>
                <a:lnTo>
                  <a:pt x="5406055" y="737189"/>
                </a:lnTo>
                <a:lnTo>
                  <a:pt x="0" y="737189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A5A5A5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938820" y="4571643"/>
            <a:ext cx="0" cy="319449"/>
          </a:xfrm>
          <a:prstGeom prst="line">
            <a:avLst/>
          </a:prstGeom>
          <a:ln w="15240">
            <a:solidFill>
              <a:srgbClr val="A5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76010" y="4571643"/>
            <a:ext cx="0" cy="319449"/>
          </a:xfrm>
          <a:prstGeom prst="line">
            <a:avLst/>
          </a:prstGeom>
          <a:ln w="15240">
            <a:solidFill>
              <a:srgbClr val="A5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4604" y="3972984"/>
            <a:ext cx="4023360" cy="291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10" b="0">
                <a:solidFill>
                  <a:srgbClr val="6B6764"/>
                </a:solidFill>
                <a:latin typeface="Calibri"/>
              </a:rPr>
              <a:t>90° bend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4604" y="4181855"/>
            <a:ext cx="4023360" cy="291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10" b="0">
                <a:solidFill>
                  <a:srgbClr val="6B6764"/>
                </a:solidFill>
                <a:latin typeface="Calibri"/>
              </a:rPr>
              <a:t>next chamber</a:t>
            </a:r>
          </a:p>
        </p:txBody>
      </p:sp>
      <p:sp>
        <p:nvSpPr>
          <p:cNvPr id="13" name="Oval 12"/>
          <p:cNvSpPr/>
          <p:nvPr/>
        </p:nvSpPr>
        <p:spPr>
          <a:xfrm>
            <a:off x="7164772" y="3158697"/>
            <a:ext cx="270302" cy="270302"/>
          </a:xfrm>
          <a:prstGeom prst="ellipse">
            <a:avLst/>
          </a:prstGeom>
          <a:solidFill>
            <a:srgbClr val="DBDBDB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35074" y="3256989"/>
            <a:ext cx="221156" cy="221156"/>
          </a:xfrm>
          <a:prstGeom prst="ellipse">
            <a:avLst/>
          </a:prstGeom>
          <a:solidFill>
            <a:srgbClr val="DBDBDB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1053" y="3318421"/>
            <a:ext cx="172010" cy="172010"/>
          </a:xfrm>
          <a:prstGeom prst="ellipse">
            <a:avLst/>
          </a:prstGeom>
          <a:solidFill>
            <a:srgbClr val="DBDBDB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85928" y="3023545"/>
            <a:ext cx="172010" cy="172010"/>
          </a:xfrm>
          <a:prstGeom prst="ellipse">
            <a:avLst/>
          </a:prstGeom>
          <a:solidFill>
            <a:srgbClr val="DBDBDB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41306" y="3072691"/>
            <a:ext cx="4423135" cy="258016"/>
          </a:xfrm>
          <a:prstGeom prst="roundRect">
            <a:avLst>
              <a:gd name="adj" fmla="val 50000"/>
            </a:avLst>
          </a:prstGeom>
          <a:solidFill>
            <a:srgbClr val="B4C7E7"/>
          </a:solidFill>
          <a:ln w="12700">
            <a:solidFill>
              <a:srgbClr val="4472C4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188744" y="3195556"/>
            <a:ext cx="4054541" cy="0"/>
          </a:xfrm>
          <a:prstGeom prst="line">
            <a:avLst/>
          </a:prstGeom>
          <a:ln w="152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317004" y="3023545"/>
            <a:ext cx="344021" cy="344021"/>
          </a:xfrm>
          <a:prstGeom prst="ellipse">
            <a:avLst/>
          </a:prstGeom>
          <a:solidFill>
            <a:srgbClr val="8EAADB"/>
          </a:solidFill>
          <a:ln w="12700">
            <a:solidFill>
              <a:srgbClr val="4472C4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734744" y="3195556"/>
            <a:ext cx="344022" cy="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85987" y="2630378"/>
            <a:ext cx="0" cy="41774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74307" y="2343931"/>
            <a:ext cx="4023360" cy="3034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60" b="0">
                <a:solidFill>
                  <a:srgbClr val="3B3838"/>
                </a:solidFill>
                <a:latin typeface="Calibri"/>
              </a:rPr>
              <a:t>Everted body, stationary against duct wall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906755" y="2630378"/>
            <a:ext cx="0" cy="368594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895075" y="2343931"/>
            <a:ext cx="4023360" cy="3034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60" b="0">
                <a:solidFill>
                  <a:srgbClr val="3B3838"/>
                </a:solidFill>
                <a:latin typeface="Calibri"/>
              </a:rPr>
              <a:t>Advancing tip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69955" y="3355281"/>
            <a:ext cx="0" cy="577465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58275" y="3941174"/>
            <a:ext cx="4023360" cy="3034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60" b="0">
                <a:solidFill>
                  <a:srgbClr val="3B3838"/>
                </a:solidFill>
                <a:latin typeface="Calibri"/>
              </a:rPr>
              <a:t>Fibre drawn in behind tip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906755" y="3588724"/>
            <a:ext cx="442314" cy="344022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895075" y="3941174"/>
            <a:ext cx="4023360" cy="3034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60" b="0">
                <a:solidFill>
                  <a:srgbClr val="3B3838"/>
                </a:solidFill>
                <a:latin typeface="Calibri"/>
              </a:rPr>
              <a:t>Silt, partial blockage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041306" y="4989383"/>
            <a:ext cx="638897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41306" y="4915665"/>
            <a:ext cx="0" cy="147437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30280" y="4915665"/>
            <a:ext cx="0" cy="147437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24113" y="5091055"/>
            <a:ext cx="4023360" cy="291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10" b="0">
                <a:solidFill>
                  <a:srgbClr val="6B6764"/>
                </a:solidFill>
                <a:latin typeface="Calibri"/>
              </a:rPr>
              <a:t>Single run, chamber to chamber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5522" y="1463161"/>
            <a:ext cx="2088702" cy="66347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2700">
            <a:solidFill>
              <a:srgbClr val="5B9BD5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>
                <a:solidFill>
                  <a:srgbClr val="1F4E79"/>
                </a:solidFill>
                <a:latin typeface="Calibri"/>
              </a:rPr>
              <a:t>RGB observation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5522" y="2814675"/>
            <a:ext cx="2088702" cy="663470"/>
          </a:xfrm>
          <a:prstGeom prst="roundRect">
            <a:avLst>
              <a:gd name="adj" fmla="val 9259"/>
            </a:avLst>
          </a:prstGeom>
          <a:solidFill>
            <a:srgbClr val="F8CBAD"/>
          </a:solidFill>
          <a:ln w="12700">
            <a:solidFill>
              <a:srgbClr val="ED7D31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>
                <a:solidFill>
                  <a:srgbClr val="833C0C"/>
                </a:solidFill>
                <a:latin typeface="Calibri"/>
              </a:rPr>
              <a:t>Optical tactile</a:t>
            </a:r>
          </a:p>
          <a:p>
            <a:pPr algn="ctr"/>
            <a:r>
              <a:rPr sz="1160">
                <a:solidFill>
                  <a:srgbClr val="C55A11"/>
                </a:solidFill>
                <a:latin typeface="Calibri"/>
              </a:rPr>
              <a:t>raw contact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522" y="4731367"/>
            <a:ext cx="2088702" cy="66347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2700">
            <a:solidFill>
              <a:srgbClr val="5B9BD5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>
                <a:solidFill>
                  <a:srgbClr val="1F4E79"/>
                </a:solidFill>
                <a:latin typeface="Calibri"/>
              </a:rPr>
              <a:t>Task instruction</a:t>
            </a:r>
          </a:p>
          <a:p>
            <a:pPr algn="ctr"/>
            <a:r>
              <a:rPr sz="1160">
                <a:solidFill>
                  <a:srgbClr val="2E75B6"/>
                </a:solidFill>
                <a:latin typeface="Calibri"/>
              </a:rPr>
              <a:t>natural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38550" y="2704097"/>
            <a:ext cx="2457297" cy="491459"/>
          </a:xfrm>
          <a:prstGeom prst="roundRect">
            <a:avLst>
              <a:gd name="adj" fmla="val 12500"/>
            </a:avLst>
          </a:prstGeom>
          <a:solidFill>
            <a:srgbClr val="F8CBAD"/>
          </a:solidFill>
          <a:ln w="12700">
            <a:solidFill>
              <a:srgbClr val="ED7D31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50">
                <a:solidFill>
                  <a:srgbClr val="833C0C"/>
                </a:solidFill>
                <a:latin typeface="Calibri"/>
              </a:rPr>
              <a:t>As an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38550" y="3318421"/>
            <a:ext cx="2457297" cy="491459"/>
          </a:xfrm>
          <a:prstGeom prst="roundRect">
            <a:avLst>
              <a:gd name="adj" fmla="val 12500"/>
            </a:avLst>
          </a:prstGeom>
          <a:solidFill>
            <a:srgbClr val="F8CBAD"/>
          </a:solidFill>
          <a:ln w="12700">
            <a:solidFill>
              <a:srgbClr val="ED7D31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50">
                <a:solidFill>
                  <a:srgbClr val="833C0C"/>
                </a:solidFill>
                <a:latin typeface="Calibri"/>
              </a:rPr>
              <a:t>As language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8550" y="3932746"/>
            <a:ext cx="2457297" cy="491459"/>
          </a:xfrm>
          <a:prstGeom prst="roundRect">
            <a:avLst>
              <a:gd name="adj" fmla="val 12500"/>
            </a:avLst>
          </a:prstGeom>
          <a:solidFill>
            <a:srgbClr val="F8CBAD"/>
          </a:solidFill>
          <a:ln w="12700">
            <a:solidFill>
              <a:srgbClr val="ED7D31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50">
                <a:solidFill>
                  <a:srgbClr val="833C0C"/>
                </a:solidFill>
                <a:latin typeface="Calibri"/>
              </a:rPr>
              <a:t>Via a learned 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3998" y="2338881"/>
            <a:ext cx="5486400" cy="291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10" b="1">
                <a:solidFill>
                  <a:srgbClr val="C55A11"/>
                </a:solidFill>
                <a:latin typeface="Calibri"/>
              </a:rPr>
              <a:t>Three encoding strategies, the variable under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71604" y="2753243"/>
            <a:ext cx="2088702" cy="1621816"/>
          </a:xfrm>
          <a:prstGeom prst="roundRect">
            <a:avLst>
              <a:gd name="adj" fmla="val 3787"/>
            </a:avLst>
          </a:prstGeom>
          <a:solidFill>
            <a:srgbClr val="B4C7E7"/>
          </a:solidFill>
          <a:ln w="12700">
            <a:solidFill>
              <a:srgbClr val="4472C4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>
                <a:solidFill>
                  <a:srgbClr val="1F3864"/>
                </a:solidFill>
                <a:latin typeface="Calibri"/>
              </a:rPr>
              <a:t>Vision–language–</a:t>
            </a:r>
          </a:p>
          <a:p>
            <a:pPr algn="ctr"/>
            <a:r>
              <a:rPr sz="1450">
                <a:solidFill>
                  <a:srgbClr val="1F3864"/>
                </a:solidFill>
                <a:latin typeface="Calibri"/>
              </a:rPr>
              <a:t>action backbone</a:t>
            </a:r>
          </a:p>
          <a:p>
            <a:pPr algn="ctr"/>
            <a:r>
              <a:rPr sz="1160">
                <a:solidFill>
                  <a:srgbClr val="2F5597"/>
                </a:solidFill>
                <a:latin typeface="Calibri"/>
              </a:rPr>
              <a:t>LoRA fine-tuned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74631" y="3060405"/>
            <a:ext cx="1842973" cy="1007492"/>
          </a:xfrm>
          <a:prstGeom prst="roundRect">
            <a:avLst>
              <a:gd name="adj" fmla="val 6097"/>
            </a:avLst>
          </a:prstGeom>
          <a:solidFill>
            <a:srgbClr val="C5E0B4"/>
          </a:solidFill>
          <a:ln w="12700">
            <a:solidFill>
              <a:srgbClr val="70AD47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50">
                <a:solidFill>
                  <a:srgbClr val="375623"/>
                </a:solidFill>
                <a:latin typeface="Calibri"/>
              </a:rPr>
              <a:t>Fold-direction</a:t>
            </a:r>
          </a:p>
          <a:p>
            <a:pPr algn="ctr"/>
            <a:r>
              <a:rPr sz="1350">
                <a:solidFill>
                  <a:srgbClr val="375623"/>
                </a:solidFill>
                <a:latin typeface="Calibri"/>
              </a:rPr>
              <a:t>selection</a:t>
            </a:r>
          </a:p>
          <a:p>
            <a:pPr algn="ctr"/>
            <a:r>
              <a:rPr sz="1060">
                <a:solidFill>
                  <a:srgbClr val="548235"/>
                </a:solidFill>
                <a:latin typeface="Calibri"/>
              </a:rPr>
              <a:t>ABB YuMi, cloth</a:t>
            </a:r>
          </a:p>
        </p:txBody>
      </p:sp>
      <p:sp>
        <p:nvSpPr>
          <p:cNvPr id="11" name="Freeform 10"/>
          <p:cNvSpPr/>
          <p:nvPr/>
        </p:nvSpPr>
        <p:spPr>
          <a:xfrm>
            <a:off x="3024225" y="1794897"/>
            <a:ext cx="4791730" cy="909200"/>
          </a:xfrm>
          <a:custGeom>
            <a:avLst/>
            <a:gdLst/>
            <a:ahLst/>
            <a:cxnLst/>
            <a:rect l="l" t="t" r="r" b="b"/>
            <a:pathLst>
              <a:path w="4791730" h="909200">
                <a:moveTo>
                  <a:pt x="0" y="0"/>
                </a:moveTo>
                <a:lnTo>
                  <a:pt x="4791730" y="0"/>
                </a:lnTo>
                <a:lnTo>
                  <a:pt x="4791730" y="909200"/>
                </a:lnTo>
              </a:path>
            </a:pathLst>
          </a:custGeom>
          <a:noFill/>
          <a:ln w="13970">
            <a:solidFill>
              <a:srgbClr val="8C8C8C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3024225" y="4424205"/>
            <a:ext cx="4791730" cy="638897"/>
          </a:xfrm>
          <a:custGeom>
            <a:avLst/>
            <a:gdLst/>
            <a:ahLst/>
            <a:cxnLst/>
            <a:rect l="l" t="t" r="r" b="b"/>
            <a:pathLst>
              <a:path w="4791730" h="638897">
                <a:moveTo>
                  <a:pt x="0" y="638897"/>
                </a:moveTo>
                <a:lnTo>
                  <a:pt x="4791730" y="638897"/>
                </a:lnTo>
                <a:lnTo>
                  <a:pt x="4791730" y="0"/>
                </a:lnTo>
              </a:path>
            </a:pathLst>
          </a:custGeom>
          <a:noFill/>
          <a:ln w="13970">
            <a:solidFill>
              <a:srgbClr val="8C8C8C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3024225" y="2949826"/>
            <a:ext cx="565179" cy="196584"/>
          </a:xfrm>
          <a:prstGeom prst="line">
            <a:avLst/>
          </a:prstGeom>
          <a:ln w="1397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2949826"/>
            <a:ext cx="626611" cy="172011"/>
          </a:xfrm>
          <a:prstGeom prst="line">
            <a:avLst/>
          </a:prstGeom>
          <a:ln w="1397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24225" y="3146410"/>
            <a:ext cx="565179" cy="417741"/>
          </a:xfrm>
          <a:prstGeom prst="line">
            <a:avLst/>
          </a:prstGeom>
          <a:ln w="1397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5847" y="3564151"/>
            <a:ext cx="626611" cy="0"/>
          </a:xfrm>
          <a:prstGeom prst="line">
            <a:avLst/>
          </a:prstGeom>
          <a:ln w="1397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24225" y="3146410"/>
            <a:ext cx="565179" cy="1032065"/>
          </a:xfrm>
          <a:prstGeom prst="line">
            <a:avLst/>
          </a:prstGeom>
          <a:ln w="1397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095847" y="4006464"/>
            <a:ext cx="626611" cy="172011"/>
          </a:xfrm>
          <a:prstGeom prst="line">
            <a:avLst/>
          </a:prstGeom>
          <a:ln w="1397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60307" y="3564151"/>
            <a:ext cx="565178" cy="0"/>
          </a:xfrm>
          <a:prstGeom prst="line">
            <a:avLst/>
          </a:prstGeom>
          <a:ln w="1397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84438" y="4132709"/>
            <a:ext cx="4023360" cy="291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10" b="0">
                <a:solidFill>
                  <a:srgbClr val="6B6764"/>
                </a:solidFill>
                <a:latin typeface="Calibri"/>
              </a:rPr>
              <a:t>Evaluated per material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522" y="5533368"/>
            <a:ext cx="6400800" cy="291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10" b="0">
                <a:solidFill>
                  <a:srgbClr val="6B6764"/>
                </a:solidFill>
                <a:latin typeface="Calibri"/>
              </a:rPr>
              <a:t>Backbone, task and sensor held constant; only the tactile encoding varies.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93941" y="716439"/>
            <a:ext cx="3203811" cy="768914"/>
          </a:xfrm>
          <a:prstGeom prst="roundRect">
            <a:avLst>
              <a:gd name="adj" fmla="val 6944"/>
            </a:avLst>
          </a:prstGeom>
          <a:solidFill>
            <a:srgbClr val="DEEBF7"/>
          </a:solidFill>
          <a:ln w="12700">
            <a:solidFill>
              <a:srgbClr val="5B9BD5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60">
                <a:solidFill>
                  <a:srgbClr val="1F4E79"/>
                </a:solidFill>
                <a:latin typeface="Calibri"/>
              </a:rPr>
              <a:t>Proposed circuit</a:t>
            </a:r>
          </a:p>
          <a:p>
            <a:pPr algn="ctr"/>
            <a:r>
              <a:rPr sz="1260">
                <a:solidFill>
                  <a:srgbClr val="1F4E79"/>
                </a:solidFill>
                <a:latin typeface="Calibri"/>
              </a:rPr>
              <a:t>geometry</a:t>
            </a:r>
          </a:p>
          <a:p>
            <a:pPr algn="ctr"/>
            <a:r>
              <a:rPr sz="1010">
                <a:solidFill>
                  <a:srgbClr val="2E75B6"/>
                </a:solidFill>
                <a:latin typeface="Calibri"/>
              </a:rPr>
              <a:t>centreline and width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1538750"/>
            <a:ext cx="0" cy="181550"/>
          </a:xfrm>
          <a:prstGeom prst="line">
            <a:avLst/>
          </a:prstGeom>
          <a:ln w="1651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493941" y="1763017"/>
            <a:ext cx="3203811" cy="768914"/>
          </a:xfrm>
          <a:prstGeom prst="roundRect">
            <a:avLst>
              <a:gd name="adj" fmla="val 6944"/>
            </a:avLst>
          </a:prstGeom>
          <a:solidFill>
            <a:srgbClr val="DEEBF7"/>
          </a:solidFill>
          <a:ln w="12700">
            <a:solidFill>
              <a:srgbClr val="5B9BD5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60">
                <a:solidFill>
                  <a:srgbClr val="1F4E79"/>
                </a:solidFill>
                <a:latin typeface="Calibri"/>
              </a:rPr>
              <a:t>Track model</a:t>
            </a:r>
          </a:p>
          <a:p>
            <a:pPr algn="ctr"/>
            <a:r>
              <a:rPr sz="1010">
                <a:solidFill>
                  <a:srgbClr val="2E75B6"/>
                </a:solidFill>
                <a:latin typeface="Calibri"/>
              </a:rPr>
              <a:t>curvature, elevation, surface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7" y="2585329"/>
            <a:ext cx="0" cy="181549"/>
          </a:xfrm>
          <a:prstGeom prst="line">
            <a:avLst/>
          </a:prstGeom>
          <a:ln w="1651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93941" y="2809596"/>
            <a:ext cx="3203811" cy="768914"/>
          </a:xfrm>
          <a:prstGeom prst="roundRect">
            <a:avLst>
              <a:gd name="adj" fmla="val 6944"/>
            </a:avLst>
          </a:prstGeom>
          <a:solidFill>
            <a:srgbClr val="DEEBF7"/>
          </a:solidFill>
          <a:ln w="12700">
            <a:solidFill>
              <a:srgbClr val="5B9BD5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60">
                <a:solidFill>
                  <a:srgbClr val="1F4E79"/>
                </a:solidFill>
                <a:latin typeface="Calibri"/>
              </a:rPr>
              <a:t>Vehicle and</a:t>
            </a:r>
          </a:p>
          <a:p>
            <a:pPr algn="ctr"/>
            <a:r>
              <a:rPr sz="1260">
                <a:solidFill>
                  <a:srgbClr val="1F4E79"/>
                </a:solidFill>
                <a:latin typeface="Calibri"/>
              </a:rPr>
              <a:t>energy model</a:t>
            </a:r>
          </a:p>
          <a:p>
            <a:pPr algn="ctr"/>
            <a:r>
              <a:rPr sz="1010">
                <a:solidFill>
                  <a:srgbClr val="2E75B6"/>
                </a:solidFill>
                <a:latin typeface="Calibri"/>
              </a:rPr>
              <a:t>Gen3 powertrain limits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7" y="3631908"/>
            <a:ext cx="0" cy="181549"/>
          </a:xfrm>
          <a:prstGeom prst="line">
            <a:avLst/>
          </a:prstGeom>
          <a:ln w="1651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93941" y="3856174"/>
            <a:ext cx="3203811" cy="768914"/>
          </a:xfrm>
          <a:prstGeom prst="roundRect">
            <a:avLst>
              <a:gd name="adj" fmla="val 6944"/>
            </a:avLst>
          </a:prstGeom>
          <a:solidFill>
            <a:srgbClr val="B4C7E7"/>
          </a:solidFill>
          <a:ln w="12700">
            <a:solidFill>
              <a:srgbClr val="4472C4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60">
                <a:solidFill>
                  <a:srgbClr val="1F3864"/>
                </a:solidFill>
                <a:latin typeface="Calibri"/>
              </a:rPr>
              <a:t>Lap simulation</a:t>
            </a:r>
          </a:p>
          <a:p>
            <a:pPr algn="ctr"/>
            <a:r>
              <a:rPr sz="1010">
                <a:solidFill>
                  <a:srgbClr val="2F5597"/>
                </a:solidFill>
                <a:latin typeface="Calibri"/>
              </a:rPr>
              <a:t>optimal speed trace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4678486"/>
            <a:ext cx="0" cy="181550"/>
          </a:xfrm>
          <a:prstGeom prst="line">
            <a:avLst/>
          </a:prstGeom>
          <a:ln w="1651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93941" y="4902753"/>
            <a:ext cx="3203811" cy="768914"/>
          </a:xfrm>
          <a:prstGeom prst="roundRect">
            <a:avLst>
              <a:gd name="adj" fmla="val 6944"/>
            </a:avLst>
          </a:prstGeom>
          <a:solidFill>
            <a:srgbClr val="C5E0B4"/>
          </a:solidFill>
          <a:ln w="12700">
            <a:solidFill>
              <a:srgbClr val="70AD47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60">
                <a:solidFill>
                  <a:srgbClr val="375623"/>
                </a:solidFill>
                <a:latin typeface="Calibri"/>
              </a:rPr>
              <a:t>Design read-out</a:t>
            </a:r>
          </a:p>
          <a:p>
            <a:pPr algn="ctr"/>
            <a:r>
              <a:rPr sz="1010">
                <a:solidFill>
                  <a:srgbClr val="548235"/>
                </a:solidFill>
                <a:latin typeface="Calibri"/>
              </a:rPr>
              <a:t>lap time, energy, overtaking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247" y="5877514"/>
            <a:ext cx="2743200" cy="2536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6B6764"/>
                </a:solidFill>
                <a:latin typeface="Calibri"/>
              </a:rPr>
              <a:t>Iterated per candidate layout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4090" y="2249497"/>
            <a:ext cx="2211567" cy="1179502"/>
          </a:xfrm>
          <a:prstGeom prst="roundRect">
            <a:avLst>
              <a:gd name="adj" fmla="val 5208"/>
            </a:avLst>
          </a:prstGeom>
          <a:solidFill>
            <a:srgbClr val="DEEBF7"/>
          </a:solidFill>
          <a:ln w="12700">
            <a:solidFill>
              <a:srgbClr val="5B9BD5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>
                <a:solidFill>
                  <a:srgbClr val="1F4E79"/>
                </a:solidFill>
                <a:latin typeface="Calibri"/>
              </a:rPr>
              <a:t>Live race state</a:t>
            </a:r>
          </a:p>
          <a:p>
            <a:pPr algn="ctr"/>
            <a:r>
              <a:rPr sz="1160">
                <a:solidFill>
                  <a:srgbClr val="2E75B6"/>
                </a:solidFill>
                <a:latin typeface="Calibri"/>
              </a:rPr>
              <a:t>timing and telemetry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77117" y="2249497"/>
            <a:ext cx="2334432" cy="1179502"/>
          </a:xfrm>
          <a:prstGeom prst="roundRect">
            <a:avLst>
              <a:gd name="adj" fmla="val 5208"/>
            </a:avLst>
          </a:prstGeom>
          <a:solidFill>
            <a:srgbClr val="F8CBAD"/>
          </a:solidFill>
          <a:ln w="12700">
            <a:solidFill>
              <a:srgbClr val="ED7D31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>
                <a:solidFill>
                  <a:srgbClr val="833C0C"/>
                </a:solidFill>
                <a:latin typeface="Calibri"/>
              </a:rPr>
              <a:t>Engineered</a:t>
            </a:r>
          </a:p>
          <a:p>
            <a:pPr algn="ctr"/>
            <a:r>
              <a:rPr sz="1450">
                <a:solidFill>
                  <a:srgbClr val="833C0C"/>
                </a:solidFill>
                <a:latin typeface="Calibri"/>
              </a:rPr>
              <a:t>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3009" y="2249497"/>
            <a:ext cx="2211567" cy="1179502"/>
          </a:xfrm>
          <a:prstGeom prst="roundRect">
            <a:avLst>
              <a:gd name="adj" fmla="val 5208"/>
            </a:avLst>
          </a:prstGeom>
          <a:solidFill>
            <a:srgbClr val="B4C7E7"/>
          </a:solidFill>
          <a:ln w="12700">
            <a:solidFill>
              <a:srgbClr val="4472C4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>
                <a:solidFill>
                  <a:srgbClr val="1F3864"/>
                </a:solidFill>
                <a:latin typeface="Calibri"/>
              </a:rPr>
              <a:t>Gradient-boosted</a:t>
            </a:r>
          </a:p>
          <a:p>
            <a:pPr algn="ctr"/>
            <a:r>
              <a:rPr sz="1450">
                <a:solidFill>
                  <a:srgbClr val="1F3864"/>
                </a:solidFill>
                <a:latin typeface="Calibri"/>
              </a:rPr>
              <a:t>classifier</a:t>
            </a:r>
          </a:p>
          <a:p>
            <a:pPr algn="ctr"/>
            <a:r>
              <a:rPr sz="1160">
                <a:solidFill>
                  <a:srgbClr val="2F5597"/>
                </a:solidFill>
                <a:latin typeface="Calibri"/>
              </a:rPr>
              <a:t>trained in-house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06037" y="2249497"/>
            <a:ext cx="2211567" cy="1179502"/>
          </a:xfrm>
          <a:prstGeom prst="roundRect">
            <a:avLst>
              <a:gd name="adj" fmla="val 5208"/>
            </a:avLst>
          </a:prstGeom>
          <a:solidFill>
            <a:srgbClr val="C5E0B4"/>
          </a:solidFill>
          <a:ln w="12700">
            <a:solidFill>
              <a:srgbClr val="70AD47"/>
            </a:solidFill>
          </a:ln>
          <a:effectLst>
            <a:outerShdw blurRad="50800" dist="12700" dir="5400000" algn="t" rotWithShape="0">
              <a:srgbClr val="1F232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>
                <a:solidFill>
                  <a:srgbClr val="375623"/>
                </a:solidFill>
                <a:latin typeface="Calibri"/>
              </a:rPr>
              <a:t>Win probability</a:t>
            </a:r>
          </a:p>
          <a:p>
            <a:pPr algn="ctr"/>
            <a:r>
              <a:rPr sz="1160">
                <a:solidFill>
                  <a:srgbClr val="548235"/>
                </a:solidFill>
                <a:latin typeface="Calibri"/>
              </a:rPr>
              <a:t>on the world feed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85658" y="2839248"/>
            <a:ext cx="442313" cy="0"/>
          </a:xfrm>
          <a:prstGeom prst="line">
            <a:avLst/>
          </a:prstGeom>
          <a:ln w="1651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11550" y="2839248"/>
            <a:ext cx="442313" cy="0"/>
          </a:xfrm>
          <a:prstGeom prst="line">
            <a:avLst/>
          </a:prstGeom>
          <a:ln w="1651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14577" y="2839248"/>
            <a:ext cx="442314" cy="0"/>
          </a:xfrm>
          <a:prstGeom prst="line">
            <a:avLst/>
          </a:prstGeom>
          <a:ln w="1651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44333" y="3453572"/>
            <a:ext cx="0" cy="172011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32653" y="3641249"/>
            <a:ext cx="4023360" cy="291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10" b="1">
                <a:solidFill>
                  <a:srgbClr val="C55A11"/>
                </a:solidFill>
                <a:latin typeface="Calibri"/>
              </a:rPr>
              <a:t>Four feature families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2653" y="3886979"/>
            <a:ext cx="4023360" cy="291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10" b="0">
                <a:solidFill>
                  <a:srgbClr val="3B3838"/>
                </a:solidFill>
                <a:latin typeface="Calibri"/>
              </a:rPr>
              <a:t>battery advantage relative to nearby cars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2653" y="4095849"/>
            <a:ext cx="4023360" cy="291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10" b="0">
                <a:solidFill>
                  <a:srgbClr val="3B3838"/>
                </a:solidFill>
                <a:latin typeface="Calibri"/>
              </a:rPr>
              <a:t>driver and circuit historical priors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2653" y="4304719"/>
            <a:ext cx="4023360" cy="291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10" b="0">
                <a:solidFill>
                  <a:srgbClr val="3B3838"/>
                </a:solidFill>
                <a:latin typeface="Calibri"/>
              </a:rPr>
              <a:t>race progression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2653" y="4513590"/>
            <a:ext cx="4023360" cy="291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10" b="0">
                <a:solidFill>
                  <a:srgbClr val="3B3838"/>
                </a:solidFill>
                <a:latin typeface="Calibri"/>
              </a:rPr>
              <a:t>speed trend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